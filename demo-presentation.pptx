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69856" autoAdjust="0"/>
  </p:normalViewPr>
  <p:slideViewPr>
    <p:cSldViewPr snapToGrid="0" snapToObjects="1">
      <p:cViewPr varScale="1">
        <p:scale>
          <a:sx n="79" d="100"/>
          <a:sy n="79" d="100"/>
        </p:scale>
        <p:origin x="96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3653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package" Target="../embeddings/Microsoft_Excel_Worksheet.xlsx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4.jpg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710457DA-CD84-60CD-33FB-4E41C1933FDB}"/>
              </a:ext>
            </a:extLst>
          </p:cNvPr>
          <p:cNvSpPr/>
          <p:nvPr/>
        </p:nvSpPr>
        <p:spPr>
          <a:xfrm>
            <a:off x="640079" y="1097280"/>
            <a:ext cx="10915347" cy="43891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lang="en-US" sz="4800"/>
              <a:t>Noodles Crypto Analytics</a:t>
            </a:r>
            <a:endParaRPr lang="en-US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32614-A220-8AFD-F4CF-AC01D0CCB1AF}"/>
              </a:ext>
            </a:extLst>
          </p:cNvPr>
          <p:cNvSpPr txBox="1"/>
          <p:nvPr/>
        </p:nvSpPr>
        <p:spPr>
          <a:xfrm>
            <a:off x="1229710" y="406716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</a:rPr>
              <a:t>Richa Singh</a:t>
            </a:r>
          </a:p>
        </p:txBody>
      </p:sp>
    </p:spTree>
    <p:extLst>
      <p:ext uri="{BB962C8B-B14F-4D97-AF65-F5344CB8AC3E}">
        <p14:creationId xmlns:p14="http://schemas.microsoft.com/office/powerpoint/2010/main" val="1400654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Noodles Crypto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486400" cy="43891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From fragmented crypto data to a trusted, executive-ready analytics platform.</a:t>
            </a:r>
          </a:p>
          <a:p>
            <a:pPr>
              <a:defRPr sz="1400">
                <a:solidFill>
                  <a:srgbClr val="DCE1E6"/>
                </a:solidFill>
              </a:defRPr>
            </a:pPr>
            <a:r>
              <a:t>Python ETL, a star-schema warehouse, and Power BI dashboards now deliver reliable business insight for market, sentiment, and top-performer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21945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A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444C5A"/>
                </a:solidFill>
              </a:defRPr>
            </a:pPr>
            <a:r>
              <a:t>Data Sources</a:t>
            </a:r>
          </a:p>
          <a:p>
            <a:pPr algn="ctr">
              <a:defRPr sz="1800" b="1">
                <a:solidFill>
                  <a:srgbClr val="22A6B3"/>
                </a:solidFill>
              </a:defRPr>
            </a:pPr>
            <a:r>
              <a:t>4+ feeds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371600"/>
            <a:ext cx="21945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A2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444C5A"/>
                </a:solidFill>
              </a:defRPr>
            </a:pPr>
            <a:r>
              <a:t>Warehouse</a:t>
            </a:r>
          </a:p>
          <a:p>
            <a:pPr algn="ctr">
              <a:defRPr sz="1800" b="1">
                <a:solidFill>
                  <a:srgbClr val="F0A245"/>
                </a:solidFill>
              </a:defRPr>
            </a:pPr>
            <a:r>
              <a:t>Star schema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834640"/>
            <a:ext cx="21945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A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444C5A"/>
                </a:solidFill>
              </a:defRPr>
            </a:pPr>
            <a:r>
              <a:t>Dashboards</a:t>
            </a:r>
          </a:p>
          <a:p>
            <a:pPr algn="ctr">
              <a:defRPr sz="1800" b="1">
                <a:solidFill>
                  <a:srgbClr val="22A6B3"/>
                </a:solidFill>
              </a:defRPr>
            </a:pPr>
            <a:r>
              <a:t>2 executive 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834640"/>
            <a:ext cx="21945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A2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444C5A"/>
                </a:solidFill>
              </a:defRPr>
            </a:pPr>
            <a:r>
              <a:t>Value</a:t>
            </a:r>
          </a:p>
          <a:p>
            <a:pPr algn="ctr">
              <a:defRPr sz="1800" b="1">
                <a:solidFill>
                  <a:srgbClr val="F0A245"/>
                </a:solidFill>
              </a:defRPr>
            </a:pPr>
            <a:r>
              <a:t>Decision-ready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86770"/>
            <a:ext cx="2377170" cy="85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444C5A"/>
                </a:solidFill>
              </a:defRPr>
            </a:pPr>
            <a:r>
              <a:rPr dirty="0"/>
              <a:t>Executive summary</a:t>
            </a:r>
          </a:p>
          <a:p>
            <a:pPr>
              <a:spcAft>
                <a:spcPts val="800"/>
              </a:spcAft>
              <a:defRPr sz="1200">
                <a:solidFill>
                  <a:srgbClr val="444C5A"/>
                </a:solidFill>
              </a:defRPr>
            </a:pPr>
            <a:r>
              <a:rPr dirty="0"/>
              <a:t>Trusted data foundation</a:t>
            </a:r>
          </a:p>
          <a:p>
            <a:pPr>
              <a:spcAft>
                <a:spcPts val="800"/>
              </a:spcAft>
              <a:defRPr sz="1200">
                <a:solidFill>
                  <a:srgbClr val="444C5A"/>
                </a:solidFill>
              </a:defRPr>
            </a:pPr>
            <a:r>
              <a:rPr dirty="0"/>
              <a:t>Stakeholder-ready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6"/>
                </a:solidFill>
              </a:defRPr>
            </a:pPr>
            <a:r>
              <a:t>Why the solution matters to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t>Built a unified analytics platform for crypto market and sentiment data.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t>Transformed raw JSON feeds into a clean warehouse and business-ready dashboards.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t>Enabled faster, more confident decision-making for portfolio and market monitoring.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4846320" cy="34747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Business value at a glance</a:t>
            </a:r>
          </a:p>
          <a:p>
            <a:pPr>
              <a:defRPr sz="1400">
                <a:solidFill>
                  <a:srgbClr val="DCE1E6"/>
                </a:solidFill>
              </a:defRPr>
            </a:pPr>
            <a:r>
              <a:t>Trusted reporting foundation</a:t>
            </a:r>
          </a:p>
          <a:p>
            <a:pPr>
              <a:defRPr sz="1400">
                <a:solidFill>
                  <a:srgbClr val="DCE1E6"/>
                </a:solidFill>
              </a:defRPr>
            </a:pPr>
            <a:r>
              <a:t>Faster insight discovery</a:t>
            </a:r>
          </a:p>
          <a:p>
            <a:pPr>
              <a:defRPr sz="1400">
                <a:solidFill>
                  <a:srgbClr val="DCE1E6"/>
                </a:solidFill>
              </a:defRPr>
            </a:pPr>
            <a:r>
              <a:t>Scalable for future expansion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Business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6"/>
                </a:solidFill>
              </a:defRPr>
            </a:pPr>
            <a:r>
              <a:t>Why a structured analytics platform was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44C5A"/>
                </a:solidFill>
              </a:defRPr>
            </a:pPr>
            <a:r>
              <a:t>Crypto data is fragmented across multiple sources and formats.</a:t>
            </a:r>
          </a:p>
          <a:p>
            <a:pPr>
              <a:spcAft>
                <a:spcPts val="800"/>
              </a:spcAft>
              <a:defRPr sz="1800">
                <a:solidFill>
                  <a:srgbClr val="444C5A"/>
                </a:solidFill>
              </a:defRPr>
            </a:pPr>
            <a:r>
              <a:t>Executives need a clear and reliable view of performance trends and sentiment.</a:t>
            </a:r>
          </a:p>
          <a:p>
            <a:pPr>
              <a:spcAft>
                <a:spcPts val="800"/>
              </a:spcAft>
              <a:defRPr sz="1800">
                <a:solidFill>
                  <a:srgbClr val="444C5A"/>
                </a:solidFill>
              </a:defRPr>
            </a:pPr>
            <a:r>
              <a:t>Manual analysis was slow and prone to inconsistencies.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4480560" cy="2743200"/>
          </a:xfrm>
          <a:prstGeom prst="roundRect">
            <a:avLst/>
          </a:prstGeom>
          <a:solidFill>
            <a:srgbClr val="22A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Outcome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A single, trusted source of truth for reporting and decision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6"/>
                </a:solidFill>
              </a:defRPr>
            </a:pPr>
            <a:r>
              <a:t>From ingestion to executive reporting</a:t>
            </a:r>
          </a:p>
        </p:txBody>
      </p:sp>
      <p:pic>
        <p:nvPicPr>
          <p:cNvPr id="5" name="Picture 4" descr="architecture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804672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61120" y="1371600"/>
            <a:ext cx="2560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444C5A"/>
                </a:solidFill>
              </a:defRPr>
            </a:pPr>
            <a:r>
              <a:t>Raw data ingestion</a:t>
            </a:r>
          </a:p>
          <a:p>
            <a:pPr>
              <a:spcAft>
                <a:spcPts val="800"/>
              </a:spcAft>
              <a:defRPr sz="1300">
                <a:solidFill>
                  <a:srgbClr val="444C5A"/>
                </a:solidFill>
              </a:defRPr>
            </a:pPr>
            <a:r>
              <a:t>Transformation and validation</a:t>
            </a:r>
          </a:p>
          <a:p>
            <a:pPr>
              <a:spcAft>
                <a:spcPts val="800"/>
              </a:spcAft>
              <a:defRPr sz="1300">
                <a:solidFill>
                  <a:srgbClr val="444C5A"/>
                </a:solidFill>
              </a:defRPr>
            </a:pPr>
            <a:r>
              <a:t>Warehouse and views</a:t>
            </a:r>
          </a:p>
          <a:p>
            <a:pPr>
              <a:spcAft>
                <a:spcPts val="800"/>
              </a:spcAft>
              <a:defRPr sz="1300">
                <a:solidFill>
                  <a:srgbClr val="444C5A"/>
                </a:solidFill>
              </a:defRPr>
            </a:pPr>
            <a:r>
              <a:t>Power BI 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 Model &amp;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6"/>
                </a:solidFill>
              </a:defRPr>
            </a:pPr>
            <a:r>
              <a:t>Star schema designed for fast analytics</a:t>
            </a:r>
          </a:p>
        </p:txBody>
      </p:sp>
      <p:pic>
        <p:nvPicPr>
          <p:cNvPr id="5" name="Picture 4" descr="Table with Mod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539496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37160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t>Core dimensions: Currency, Date, and Platform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t>Fact tables support market and social engagement metrics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t>Relationships are normalized for accurate and efficient reporting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5EC741E-CA76-BA39-E5EB-26F1A8A246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902018"/>
              </p:ext>
            </p:extLst>
          </p:nvPr>
        </p:nvGraphicFramePr>
        <p:xfrm>
          <a:off x="6309360" y="3017521"/>
          <a:ext cx="2805704" cy="98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772226" imgH="2032000" progId="Excel.Sheet.12">
                  <p:embed/>
                </p:oleObj>
              </mc:Choice>
              <mc:Fallback>
                <p:oleObj name="Worksheet" r:id="rId4" imgW="5772226" imgH="2032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09360" y="3017521"/>
                        <a:ext cx="2805704" cy="988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 Pipeline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6"/>
                </a:solidFill>
              </a:defRPr>
            </a:pPr>
            <a:r>
              <a:t>Automation with quality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3674" y="960120"/>
            <a:ext cx="8961120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dirty="0"/>
              <a:t>Python notebooks automate extraction and loading.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dirty="0"/>
              <a:t>Validation checks ensure completeness and consistency.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dirty="0"/>
              <a:t>Quality controls improve trust in downstream dashboards.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820D96-CDEB-5E9A-05F9-32C2A5279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74925"/>
            <a:ext cx="4815594" cy="2136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8106CB-6AFF-7C30-4BFF-23305D877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135" y="2263930"/>
            <a:ext cx="3216925" cy="2758763"/>
          </a:xfrm>
          <a:prstGeom prst="rect">
            <a:avLst/>
          </a:prstGeom>
        </p:spPr>
      </p:pic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2CF8562-AAE6-B156-C23B-A92F400771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075550"/>
              </p:ext>
            </p:extLst>
          </p:nvPr>
        </p:nvGraphicFramePr>
        <p:xfrm>
          <a:off x="1311275" y="5565775"/>
          <a:ext cx="14732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5" imgW="1473133" imgH="526949" progId="Package">
                  <p:embed/>
                </p:oleObj>
              </mc:Choice>
              <mc:Fallback>
                <p:oleObj name="Packager Shell Object" showAsIcon="1" r:id="rId5" imgW="1473133" imgH="526949" progId="Package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94709526-52CA-B25B-CBDC-853107AA2A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11275" y="5565775"/>
                        <a:ext cx="147320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F1AF6F19-3914-100E-373C-C0494421F6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159716"/>
              </p:ext>
            </p:extLst>
          </p:nvPr>
        </p:nvGraphicFramePr>
        <p:xfrm>
          <a:off x="3930765" y="5565775"/>
          <a:ext cx="26797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7" imgW="2679818" imgH="526949" progId="Package">
                  <p:embed/>
                </p:oleObj>
              </mc:Choice>
              <mc:Fallback>
                <p:oleObj name="Packager Shell Object" showAsIcon="1" r:id="rId7" imgW="2679818" imgH="526949" progId="Package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9BAE74AD-1334-F1A2-69E9-0EF45B5D79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30765" y="5565775"/>
                        <a:ext cx="267970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Dashboard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6"/>
                </a:solidFill>
              </a:defRPr>
            </a:pPr>
            <a:r>
              <a:t>Stakeholder-first reporting experience</a:t>
            </a:r>
          </a:p>
        </p:txBody>
      </p:sp>
      <p:pic>
        <p:nvPicPr>
          <p:cNvPr id="5" name="Picture 4" descr="executive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3902103" cy="2301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11905" y="960120"/>
            <a:ext cx="3469802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44C5A"/>
                </a:solidFill>
              </a:defRPr>
            </a:pPr>
            <a:r>
              <a:t>KPI-driven layout</a:t>
            </a:r>
          </a:p>
          <a:p>
            <a:pPr>
              <a:spcAft>
                <a:spcPts val="800"/>
              </a:spcAft>
              <a:defRPr sz="1500">
                <a:solidFill>
                  <a:srgbClr val="444C5A"/>
                </a:solidFill>
              </a:defRPr>
            </a:pPr>
            <a:r>
              <a:t>Trend views for rapid understanding</a:t>
            </a:r>
          </a:p>
          <a:p>
            <a:pPr>
              <a:spcAft>
                <a:spcPts val="800"/>
              </a:spcAft>
              <a:defRPr sz="1500">
                <a:solidFill>
                  <a:srgbClr val="444C5A"/>
                </a:solidFill>
              </a:defRPr>
            </a:pPr>
            <a:r>
              <a:t>Actionable visual storytelling</a:t>
            </a:r>
          </a:p>
        </p:txBody>
      </p:sp>
      <p:pic>
        <p:nvPicPr>
          <p:cNvPr id="8" name="Picture 7" descr="Time Series Analysis.jpg">
            <a:extLst>
              <a:ext uri="{FF2B5EF4-FFF2-40B4-BE49-F238E27FC236}">
                <a16:creationId xmlns:a16="http://schemas.microsoft.com/office/drawing/2014/main" id="{A0DE4D0E-A11B-A2DA-656A-8BAC408FD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00" y="3980826"/>
            <a:ext cx="2860866" cy="19553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E330A2-4D10-0945-6FA8-4641F8EFE2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6598" y="3980826"/>
            <a:ext cx="3469802" cy="2031589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2D71807-83AE-9C75-DE99-032558B9F6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688848"/>
              </p:ext>
            </p:extLst>
          </p:nvPr>
        </p:nvGraphicFramePr>
        <p:xfrm>
          <a:off x="6011905" y="2235161"/>
          <a:ext cx="25908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6" imgW="2591002" imgH="526949" progId="Package">
                  <p:embed/>
                </p:oleObj>
              </mc:Choice>
              <mc:Fallback>
                <p:oleObj name="Packager Shell Object" showAsIcon="1" r:id="rId6" imgW="2591002" imgH="526949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11905" y="2235161"/>
                        <a:ext cx="259080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Top Performers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6"/>
                </a:solidFill>
              </a:defRPr>
            </a:pPr>
            <a:r>
              <a:t>Key market opportunities surfaced clearly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2620" y="899160"/>
            <a:ext cx="5577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dirty="0"/>
              <a:t>Highlights the strongest-performing currencies and momentum shifts.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dirty="0"/>
              <a:t>Supports quick comparisons across price, volume, and sentiment.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dirty="0"/>
              <a:t>Useful for both analysts and senior stakeholders.</a:t>
            </a:r>
          </a:p>
        </p:txBody>
      </p:sp>
      <p:pic>
        <p:nvPicPr>
          <p:cNvPr id="8" name="Picture 7" descr="executive-dashboard.png">
            <a:extLst>
              <a:ext uri="{FF2B5EF4-FFF2-40B4-BE49-F238E27FC236}">
                <a16:creationId xmlns:a16="http://schemas.microsoft.com/office/drawing/2014/main" id="{D61F8DFA-362E-3B6F-0677-11B05A868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680" y="2316480"/>
            <a:ext cx="71323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Strategic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6"/>
                </a:solidFill>
              </a:defRPr>
            </a:pPr>
            <a:r>
              <a:t>What the analysis 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t> Bitcoin dominance remains influential in market movement.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t> Social engagement provides a useful signal for momentum and attention.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t> The solution makes these insights easier to monitor and explain.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754880" cy="2743200"/>
          </a:xfrm>
          <a:prstGeom prst="roundRect">
            <a:avLst/>
          </a:prstGeom>
          <a:solidFill>
            <a:srgbClr val="F0A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B1F33"/>
                </a:solidFill>
              </a:defRPr>
            </a:pPr>
            <a:r>
              <a:t>Executive takeaway</a:t>
            </a:r>
          </a:p>
          <a:p>
            <a:pPr>
              <a:defRPr sz="1400">
                <a:solidFill>
                  <a:srgbClr val="0B1F33"/>
                </a:solidFill>
              </a:defRPr>
            </a:pPr>
            <a:r>
              <a:t>The platform turned fragmented data into a scalable, decision-ready reporting solution.</a:t>
            </a:r>
          </a:p>
        </p:txBody>
      </p:sp>
      <p:pic>
        <p:nvPicPr>
          <p:cNvPr id="8" name="Picture 7" descr="Time Series Analysis.jpg">
            <a:extLst>
              <a:ext uri="{FF2B5EF4-FFF2-40B4-BE49-F238E27FC236}">
                <a16:creationId xmlns:a16="http://schemas.microsoft.com/office/drawing/2014/main" id="{70D8E3DD-3221-04D0-B48C-BC536BCD3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75656"/>
            <a:ext cx="4732846" cy="32348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Next Steps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6"/>
                </a:solidFill>
              </a:defRPr>
            </a:pPr>
            <a:r>
              <a:t>Where the platform goes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dirty="0"/>
              <a:t>Next Steps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dirty="0"/>
              <a:t>Where the platform goes next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dirty="0"/>
              <a:t>Automate refresh schedules and monitoring.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dirty="0"/>
              <a:t>Expand the dashboard with richer KPIs and alerts.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dirty="0"/>
              <a:t>Scale the solution for more assets, regions, and reporting scenarios.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dirty="0"/>
              <a:t>Refresh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dirty="0"/>
              <a:t>Automated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dirty="0"/>
              <a:t>Coverage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dirty="0"/>
              <a:t>Scalable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21945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A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444C5A"/>
                </a:solidFill>
              </a:defRPr>
            </a:pPr>
            <a:r>
              <a:t>Refresh</a:t>
            </a:r>
          </a:p>
          <a:p>
            <a:pPr algn="ctr">
              <a:defRPr sz="1800" b="1">
                <a:solidFill>
                  <a:srgbClr val="22A6B3"/>
                </a:solidFill>
              </a:defRPr>
            </a:pPr>
            <a:r>
              <a:t>Automated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1945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A2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444C5A"/>
                </a:solidFill>
              </a:defRPr>
            </a:pPr>
            <a:r>
              <a:t>Coverage</a:t>
            </a:r>
          </a:p>
          <a:p>
            <a:pPr algn="ctr">
              <a:defRPr sz="1800" b="1">
                <a:solidFill>
                  <a:srgbClr val="F0A245"/>
                </a:solidFill>
              </a:defRPr>
            </a:pPr>
            <a:r>
              <a:t>Scalable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943B07-BA23-85A9-EF36-B2DB2E858F1F}"/>
              </a:ext>
            </a:extLst>
          </p:cNvPr>
          <p:cNvSpPr txBox="1"/>
          <p:nvPr/>
        </p:nvSpPr>
        <p:spPr>
          <a:xfrm>
            <a:off x="2076844" y="3179379"/>
            <a:ext cx="5486400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lang="en-US" b="1" i="1" dirty="0"/>
              <a:t>Any queries feel free to contact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lang="en-US" b="1" i="1" dirty="0"/>
              <a:t>Name- Richa Singh</a:t>
            </a:r>
          </a:p>
          <a:p>
            <a:pPr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lang="en-US" b="1" i="1" dirty="0"/>
              <a:t>Email – robinricha14@gmail.com</a:t>
            </a:r>
            <a:endParaRPr b="1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682E34-D596-8B00-BF20-FBFF0DD0DD6B}"/>
              </a:ext>
            </a:extLst>
          </p:cNvPr>
          <p:cNvSpPr txBox="1"/>
          <p:nvPr/>
        </p:nvSpPr>
        <p:spPr>
          <a:xfrm>
            <a:off x="2647885" y="1183490"/>
            <a:ext cx="5486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>
                <a:solidFill>
                  <a:srgbClr val="444C5A"/>
                </a:solidFill>
              </a:defRPr>
            </a:pPr>
            <a:r>
              <a:rPr lang="en-US" sz="4800" b="1" dirty="0"/>
              <a:t>Thank You!!</a:t>
            </a:r>
            <a:endParaRPr sz="4800" b="1" dirty="0"/>
          </a:p>
        </p:txBody>
      </p:sp>
    </p:spTree>
    <p:extLst>
      <p:ext uri="{BB962C8B-B14F-4D97-AF65-F5344CB8AC3E}">
        <p14:creationId xmlns:p14="http://schemas.microsoft.com/office/powerpoint/2010/main" val="2151128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440</Words>
  <Application>Microsoft Office PowerPoint</Application>
  <PresentationFormat>Widescreen</PresentationFormat>
  <Paragraphs>84</Paragraphs>
  <Slides>12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Office Theme</vt:lpstr>
      <vt:lpstr>Worksheet</vt:lpstr>
      <vt:lpstr>Packager Shell Object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robinricha14@gmail.com</cp:lastModifiedBy>
  <cp:revision>13</cp:revision>
  <dcterms:created xsi:type="dcterms:W3CDTF">2013-01-27T09:14:16Z</dcterms:created>
  <dcterms:modified xsi:type="dcterms:W3CDTF">2026-08-08T01:49:31Z</dcterms:modified>
  <cp:category/>
</cp:coreProperties>
</file>